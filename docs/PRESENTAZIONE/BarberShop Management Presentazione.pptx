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76" r:id="rId3"/>
    <p:sldId id="257" r:id="rId4"/>
    <p:sldId id="258" r:id="rId5"/>
    <p:sldId id="277" r:id="rId6"/>
    <p:sldId id="272" r:id="rId7"/>
    <p:sldId id="273" r:id="rId8"/>
    <p:sldId id="259" r:id="rId9"/>
    <p:sldId id="274" r:id="rId10"/>
    <p:sldId id="275" r:id="rId11"/>
    <p:sldId id="262" r:id="rId12"/>
    <p:sldId id="263" r:id="rId13"/>
    <p:sldId id="266" r:id="rId14"/>
    <p:sldId id="267" r:id="rId15"/>
  </p:sldIdLst>
  <p:sldSz cx="12192000" cy="6858000"/>
  <p:notesSz cx="6858000" cy="9144000"/>
  <p:embeddedFontLst>
    <p:embeddedFont>
      <p:font typeface="DM Sans" pitchFamily="2" charset="0"/>
      <p:regular r:id="rId17"/>
      <p:bold r:id="rId18"/>
      <p:italic r:id="rId19"/>
      <p:boldItalic r:id="rId20"/>
    </p:embeddedFont>
    <p:embeddedFont>
      <p:font typeface="Merriweather" panose="00000500000000000000" pitchFamily="2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C9EBA12-976F-4722-A816-1FAFEFF6BF29}">
  <a:tblStyle styleId="{DC9EBA12-976F-4722-A816-1FAFEFF6BF29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048"/>
    <p:restoredTop sz="94503"/>
  </p:normalViewPr>
  <p:slideViewPr>
    <p:cSldViewPr snapToGrid="0">
      <p:cViewPr varScale="1">
        <p:scale>
          <a:sx n="78" d="100"/>
          <a:sy n="78" d="100"/>
        </p:scale>
        <p:origin x="600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" name="Google Shape;14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" name="Google Shape;25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3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2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27.png"/><Relationship Id="rId9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4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088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571500" y="3967162"/>
            <a:ext cx="11049000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11CAA0"/>
                </a:solidFill>
                <a:latin typeface="DM Sans"/>
                <a:ea typeface="DM Sans"/>
                <a:cs typeface="DM Sans"/>
                <a:sym typeface="DM Sans"/>
              </a:rPr>
              <a:t>Progetto di Ingegneria del Software - Università di Pavia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571500" y="4700587"/>
            <a:ext cx="110490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Un</a:t>
            </a:r>
            <a:r>
              <a:rPr lang="en-US" sz="150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 software </a:t>
            </a:r>
            <a:r>
              <a:rPr lang="en-US" sz="1500" b="0" i="0" u="none" strike="noStrike" cap="non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digitale integrato per la gestione di saloni professionali.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295275" y="1909762"/>
            <a:ext cx="11601450" cy="16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BarberShop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6000" b="1" i="0" u="none" strike="noStrike" cap="non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 Management System</a:t>
            </a:r>
            <a:endParaRPr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B4E5540E-DF09-6AFF-84F0-C76C1376C1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371719" cy="12955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606278"/>
            <a:ext cx="5334000" cy="3110507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86500" y="2256532"/>
            <a:ext cx="5334000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3"/>
          <p:cNvSpPr txBox="1"/>
          <p:nvPr/>
        </p:nvSpPr>
        <p:spPr>
          <a:xfrm>
            <a:off x="952500" y="2987278"/>
            <a:ext cx="4800600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11CAA0"/>
                </a:solidFill>
                <a:latin typeface="Merriweather"/>
                <a:ea typeface="Merriweather"/>
                <a:cs typeface="Merriweather"/>
                <a:sym typeface="Merriweather"/>
              </a:rPr>
              <a:t>Digitalizzare l'eccellenza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952500" y="3644503"/>
            <a:ext cx="4572000" cy="14626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Trasformare l'esperienza artigianale del barbiere in un flusso operativo ottimizzato, migliorando la gestione degli appuntamenti e la fidelizzazione del cliente (Retention).</a:t>
            </a:r>
            <a:endParaRPr/>
          </a:p>
        </p:txBody>
      </p:sp>
      <p:pic>
        <p:nvPicPr>
          <p:cNvPr id="89" name="Google Shape;89;p1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296025" y="2266057"/>
            <a:ext cx="5314950" cy="379095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3"/>
          <p:cNvSpPr txBox="1"/>
          <p:nvPr/>
        </p:nvSpPr>
        <p:spPr>
          <a:xfrm>
            <a:off x="571500" y="950862"/>
            <a:ext cx="116014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Obiettivo del Progetto</a:t>
            </a:r>
            <a:endParaRPr/>
          </a:p>
        </p:txBody>
      </p:sp>
      <p:sp>
        <p:nvSpPr>
          <p:cNvPr id="91" name="Google Shape;91;p13"/>
          <p:cNvSpPr/>
          <p:nvPr/>
        </p:nvSpPr>
        <p:spPr>
          <a:xfrm>
            <a:off x="571500" y="1617612"/>
            <a:ext cx="11049000" cy="381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699444"/>
            <a:ext cx="5334000" cy="1781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86500" y="2699444"/>
            <a:ext cx="5334000" cy="1781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9150" y="2947094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534150" y="2947094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4"/>
          <p:cNvSpPr txBox="1"/>
          <p:nvPr/>
        </p:nvSpPr>
        <p:spPr>
          <a:xfrm>
            <a:off x="571500" y="5147369"/>
            <a:ext cx="110490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"Interazione fluida tra l'utente finale e la logica di business del salone."</a:t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1390650" y="2947094"/>
            <a:ext cx="2380297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Gestione Identità</a:t>
            </a:r>
            <a:endParaRPr/>
          </a:p>
        </p:txBody>
      </p:sp>
      <p:sp>
        <p:nvSpPr>
          <p:cNvPr id="103" name="Google Shape;103;p14"/>
          <p:cNvSpPr txBox="1"/>
          <p:nvPr/>
        </p:nvSpPr>
        <p:spPr>
          <a:xfrm>
            <a:off x="7105650" y="2947094"/>
            <a:ext cx="3100387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Gestione Prenotazioni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1390650" y="3451919"/>
            <a:ext cx="226695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55555"/>
                </a:solidFill>
                <a:latin typeface="DM Sans"/>
                <a:ea typeface="DM Sans"/>
                <a:cs typeface="DM Sans"/>
                <a:sym typeface="DM Sans"/>
              </a:rPr>
              <a:t>1.1: Registrazione Utente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1390650" y="3718619"/>
            <a:ext cx="226695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55555"/>
                </a:solidFill>
                <a:latin typeface="DM Sans"/>
                <a:ea typeface="DM Sans"/>
                <a:cs typeface="DM Sans"/>
                <a:sym typeface="DM Sans"/>
              </a:rPr>
              <a:t>1.2: Login (Autenticazione)</a:t>
            </a:r>
            <a:endParaRPr/>
          </a:p>
        </p:txBody>
      </p:sp>
      <p:sp>
        <p:nvSpPr>
          <p:cNvPr id="106" name="Google Shape;106;p14"/>
          <p:cNvSpPr txBox="1"/>
          <p:nvPr/>
        </p:nvSpPr>
        <p:spPr>
          <a:xfrm>
            <a:off x="1390650" y="3985319"/>
            <a:ext cx="226695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55555"/>
                </a:solidFill>
                <a:latin typeface="DM Sans"/>
                <a:ea typeface="DM Sans"/>
                <a:cs typeface="DM Sans"/>
                <a:sym typeface="DM Sans"/>
              </a:rPr>
              <a:t>1.3: Reimpostazione Password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7105650" y="3451919"/>
            <a:ext cx="295275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55555"/>
                </a:solidFill>
                <a:latin typeface="DM Sans"/>
                <a:ea typeface="DM Sans"/>
                <a:cs typeface="DM Sans"/>
                <a:sym typeface="DM Sans"/>
              </a:rPr>
              <a:t>2.1: Scelta Servizi e Orari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7105650" y="3718619"/>
            <a:ext cx="295275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55555"/>
                </a:solidFill>
                <a:latin typeface="DM Sans"/>
                <a:ea typeface="DM Sans"/>
                <a:cs typeface="DM Sans"/>
                <a:sym typeface="DM Sans"/>
              </a:rPr>
              <a:t>2.2: Selezione Barbiere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7105650" y="3985319"/>
            <a:ext cx="295275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55555"/>
                </a:solidFill>
                <a:latin typeface="DM Sans"/>
                <a:ea typeface="DM Sans"/>
                <a:cs typeface="DM Sans"/>
                <a:sym typeface="DM Sans"/>
              </a:rPr>
              <a:t>2.3: Conferma Appuntamento</a:t>
            </a:r>
            <a:endParaRPr/>
          </a:p>
        </p:txBody>
      </p:sp>
      <p:pic>
        <p:nvPicPr>
          <p:cNvPr id="110" name="Google Shape;110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390650" y="3480494"/>
            <a:ext cx="952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390650" y="3747194"/>
            <a:ext cx="952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390650" y="4013894"/>
            <a:ext cx="952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105650" y="3480494"/>
            <a:ext cx="952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105650" y="3747194"/>
            <a:ext cx="952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105650" y="4013894"/>
            <a:ext cx="9525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4"/>
          <p:cNvSpPr txBox="1"/>
          <p:nvPr/>
        </p:nvSpPr>
        <p:spPr>
          <a:xfrm>
            <a:off x="571500" y="950862"/>
            <a:ext cx="116014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Mappa dei Casi d'Uso (1-2)</a:t>
            </a:r>
            <a:endParaRPr/>
          </a:p>
        </p:txBody>
      </p:sp>
      <p:sp>
        <p:nvSpPr>
          <p:cNvPr id="117" name="Google Shape;117;p14"/>
          <p:cNvSpPr/>
          <p:nvPr/>
        </p:nvSpPr>
        <p:spPr>
          <a:xfrm>
            <a:off x="571500" y="1617612"/>
            <a:ext cx="11049000" cy="381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175694"/>
            <a:ext cx="5334000" cy="1781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86500" y="3175694"/>
            <a:ext cx="5334000" cy="1781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9150" y="3423344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534150" y="3423344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15"/>
          <p:cNvSpPr txBox="1"/>
          <p:nvPr/>
        </p:nvSpPr>
        <p:spPr>
          <a:xfrm>
            <a:off x="1390650" y="3423344"/>
            <a:ext cx="3210401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Feedback e Valutazione</a:t>
            </a:r>
            <a:endParaRPr/>
          </a:p>
        </p:txBody>
      </p:sp>
      <p:sp>
        <p:nvSpPr>
          <p:cNvPr id="128" name="Google Shape;128;p15"/>
          <p:cNvSpPr txBox="1"/>
          <p:nvPr/>
        </p:nvSpPr>
        <p:spPr>
          <a:xfrm>
            <a:off x="7105650" y="3423344"/>
            <a:ext cx="2790348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Amministrazione</a:t>
            </a:r>
            <a:endParaRPr/>
          </a:p>
        </p:txBody>
      </p:sp>
      <p:sp>
        <p:nvSpPr>
          <p:cNvPr id="129" name="Google Shape;129;p15"/>
          <p:cNvSpPr txBox="1"/>
          <p:nvPr/>
        </p:nvSpPr>
        <p:spPr>
          <a:xfrm>
            <a:off x="1390650" y="3928169"/>
            <a:ext cx="30575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14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55555"/>
                </a:solidFill>
                <a:latin typeface="DM Sans"/>
                <a:ea typeface="DM Sans"/>
                <a:cs typeface="DM Sans"/>
                <a:sym typeface="DM Sans"/>
              </a:rPr>
              <a:t>3.1: Rilascio Recensione</a:t>
            </a:r>
            <a:endParaRPr/>
          </a:p>
        </p:txBody>
      </p:sp>
      <p:sp>
        <p:nvSpPr>
          <p:cNvPr id="130" name="Google Shape;130;p15"/>
          <p:cNvSpPr txBox="1"/>
          <p:nvPr/>
        </p:nvSpPr>
        <p:spPr>
          <a:xfrm>
            <a:off x="1390650" y="4194869"/>
            <a:ext cx="30575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14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55555"/>
                </a:solidFill>
                <a:latin typeface="DM Sans"/>
                <a:ea typeface="DM Sans"/>
                <a:cs typeface="DM Sans"/>
                <a:sym typeface="DM Sans"/>
              </a:rPr>
              <a:t>3.2: Storico Trattamenti</a:t>
            </a:r>
            <a:endParaRPr/>
          </a:p>
        </p:txBody>
      </p:sp>
      <p:sp>
        <p:nvSpPr>
          <p:cNvPr id="131" name="Google Shape;131;p15"/>
          <p:cNvSpPr txBox="1"/>
          <p:nvPr/>
        </p:nvSpPr>
        <p:spPr>
          <a:xfrm>
            <a:off x="7105650" y="3928169"/>
            <a:ext cx="265747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33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55555"/>
                </a:solidFill>
                <a:latin typeface="DM Sans"/>
                <a:ea typeface="DM Sans"/>
                <a:cs typeface="DM Sans"/>
                <a:sym typeface="DM Sans"/>
              </a:rPr>
              <a:t>4.1: Gestione Magazzino / Scorte</a:t>
            </a:r>
            <a:endParaRPr/>
          </a:p>
        </p:txBody>
      </p:sp>
      <p:sp>
        <p:nvSpPr>
          <p:cNvPr id="132" name="Google Shape;132;p15"/>
          <p:cNvSpPr txBox="1"/>
          <p:nvPr/>
        </p:nvSpPr>
        <p:spPr>
          <a:xfrm>
            <a:off x="7105650" y="4194869"/>
            <a:ext cx="265747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33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55555"/>
                </a:solidFill>
                <a:latin typeface="DM Sans"/>
                <a:ea typeface="DM Sans"/>
                <a:cs typeface="DM Sans"/>
                <a:sym typeface="DM Sans"/>
              </a:rPr>
              <a:t>4.2: Configurazione Listino Prezzi</a:t>
            </a:r>
            <a:endParaRPr/>
          </a:p>
        </p:txBody>
      </p:sp>
      <p:sp>
        <p:nvSpPr>
          <p:cNvPr id="133" name="Google Shape;133;p15"/>
          <p:cNvSpPr txBox="1"/>
          <p:nvPr/>
        </p:nvSpPr>
        <p:spPr>
          <a:xfrm>
            <a:off x="7105650" y="4461569"/>
            <a:ext cx="265747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33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55555"/>
                </a:solidFill>
                <a:latin typeface="DM Sans"/>
                <a:ea typeface="DM Sans"/>
                <a:cs typeface="DM Sans"/>
                <a:sym typeface="DM Sans"/>
              </a:rPr>
              <a:t>4.3: Monitoraggio Performance Staff</a:t>
            </a:r>
            <a:endParaRPr/>
          </a:p>
        </p:txBody>
      </p:sp>
      <p:pic>
        <p:nvPicPr>
          <p:cNvPr id="134" name="Google Shape;134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390650" y="3956744"/>
            <a:ext cx="1714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390650" y="4223444"/>
            <a:ext cx="1714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15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7105650" y="3956744"/>
            <a:ext cx="1333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15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7105650" y="4223444"/>
            <a:ext cx="1333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15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7105650" y="4490144"/>
            <a:ext cx="13335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15"/>
          <p:cNvSpPr txBox="1"/>
          <p:nvPr/>
        </p:nvSpPr>
        <p:spPr>
          <a:xfrm>
            <a:off x="571500" y="950862"/>
            <a:ext cx="116014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Mappa dei Casi d'Uso (3-4)</a:t>
            </a:r>
            <a:endParaRPr/>
          </a:p>
        </p:txBody>
      </p:sp>
      <p:sp>
        <p:nvSpPr>
          <p:cNvPr id="140" name="Google Shape;140;p15"/>
          <p:cNvSpPr/>
          <p:nvPr/>
        </p:nvSpPr>
        <p:spPr>
          <a:xfrm>
            <a:off x="571500" y="1617612"/>
            <a:ext cx="11049000" cy="381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Google Shape;145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885182"/>
            <a:ext cx="5405437" cy="2552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15062" y="2885182"/>
            <a:ext cx="5405437" cy="2552700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16"/>
          <p:cNvSpPr txBox="1"/>
          <p:nvPr/>
        </p:nvSpPr>
        <p:spPr>
          <a:xfrm>
            <a:off x="809625" y="3180457"/>
            <a:ext cx="5175646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812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Lato Cliente</a:t>
            </a:r>
            <a:endParaRPr/>
          </a:p>
        </p:txBody>
      </p:sp>
      <p:sp>
        <p:nvSpPr>
          <p:cNvPr id="149" name="Google Shape;149;p16"/>
          <p:cNvSpPr txBox="1"/>
          <p:nvPr/>
        </p:nvSpPr>
        <p:spPr>
          <a:xfrm>
            <a:off x="6453187" y="3180457"/>
            <a:ext cx="5175646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812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Lato Amministratore</a:t>
            </a:r>
            <a:endParaRPr/>
          </a:p>
        </p:txBody>
      </p:sp>
      <p:pic>
        <p:nvPicPr>
          <p:cNvPr id="150" name="Google Shape;150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9625" y="3218557"/>
            <a:ext cx="238125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6"/>
          <p:cNvSpPr txBox="1"/>
          <p:nvPr/>
        </p:nvSpPr>
        <p:spPr>
          <a:xfrm>
            <a:off x="933450" y="3675757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52" name="Google Shape;152;p16"/>
          <p:cNvSpPr txBox="1"/>
          <p:nvPr/>
        </p:nvSpPr>
        <p:spPr>
          <a:xfrm>
            <a:off x="1000125" y="3675757"/>
            <a:ext cx="47386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Prenotazione servizi online 24/7.</a:t>
            </a:r>
            <a:endParaRPr/>
          </a:p>
        </p:txBody>
      </p:sp>
      <p:sp>
        <p:nvSpPr>
          <p:cNvPr id="153" name="Google Shape;153;p16"/>
          <p:cNvSpPr txBox="1"/>
          <p:nvPr/>
        </p:nvSpPr>
        <p:spPr>
          <a:xfrm>
            <a:off x="933450" y="4037707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54" name="Google Shape;154;p16"/>
          <p:cNvSpPr txBox="1"/>
          <p:nvPr/>
        </p:nvSpPr>
        <p:spPr>
          <a:xfrm>
            <a:off x="1000125" y="4037707"/>
            <a:ext cx="47386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Scelta dinamica del barbiere di fiducia.</a:t>
            </a:r>
            <a:endParaRPr/>
          </a:p>
        </p:txBody>
      </p:sp>
      <p:sp>
        <p:nvSpPr>
          <p:cNvPr id="155" name="Google Shape;155;p16"/>
          <p:cNvSpPr txBox="1"/>
          <p:nvPr/>
        </p:nvSpPr>
        <p:spPr>
          <a:xfrm>
            <a:off x="933450" y="4399657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56" name="Google Shape;156;p16"/>
          <p:cNvSpPr txBox="1"/>
          <p:nvPr/>
        </p:nvSpPr>
        <p:spPr>
          <a:xfrm>
            <a:off x="1000125" y="4399657"/>
            <a:ext cx="47386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Consultazione storico trattamenti effettuati.</a:t>
            </a:r>
            <a:endParaRPr/>
          </a:p>
        </p:txBody>
      </p:sp>
      <p:sp>
        <p:nvSpPr>
          <p:cNvPr id="157" name="Google Shape;157;p16"/>
          <p:cNvSpPr txBox="1"/>
          <p:nvPr/>
        </p:nvSpPr>
        <p:spPr>
          <a:xfrm>
            <a:off x="933450" y="4761607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58" name="Google Shape;158;p16"/>
          <p:cNvSpPr txBox="1"/>
          <p:nvPr/>
        </p:nvSpPr>
        <p:spPr>
          <a:xfrm>
            <a:off x="1000125" y="4761607"/>
            <a:ext cx="47386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Possibilità di valutare l'esperienza post-taglio.</a:t>
            </a:r>
            <a:endParaRPr/>
          </a:p>
        </p:txBody>
      </p:sp>
      <p:pic>
        <p:nvPicPr>
          <p:cNvPr id="159" name="Google Shape;159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53187" y="3218557"/>
            <a:ext cx="238125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6"/>
          <p:cNvSpPr txBox="1"/>
          <p:nvPr/>
        </p:nvSpPr>
        <p:spPr>
          <a:xfrm>
            <a:off x="6577012" y="3675757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61" name="Google Shape;161;p16"/>
          <p:cNvSpPr txBox="1"/>
          <p:nvPr/>
        </p:nvSpPr>
        <p:spPr>
          <a:xfrm>
            <a:off x="6643687" y="3675757"/>
            <a:ext cx="47386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Gestione centralizzata dell'inventario prodotti.</a:t>
            </a:r>
            <a:endParaRPr/>
          </a:p>
        </p:txBody>
      </p:sp>
      <p:sp>
        <p:nvSpPr>
          <p:cNvPr id="162" name="Google Shape;162;p16"/>
          <p:cNvSpPr txBox="1"/>
          <p:nvPr/>
        </p:nvSpPr>
        <p:spPr>
          <a:xfrm>
            <a:off x="6577012" y="4037707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63" name="Google Shape;163;p16"/>
          <p:cNvSpPr txBox="1"/>
          <p:nvPr/>
        </p:nvSpPr>
        <p:spPr>
          <a:xfrm>
            <a:off x="6643687" y="4037707"/>
            <a:ext cx="47386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Aggiornamento orari e giorni di chiusura.</a:t>
            </a:r>
            <a:endParaRPr/>
          </a:p>
        </p:txBody>
      </p:sp>
      <p:sp>
        <p:nvSpPr>
          <p:cNvPr id="164" name="Google Shape;164;p16"/>
          <p:cNvSpPr txBox="1"/>
          <p:nvPr/>
        </p:nvSpPr>
        <p:spPr>
          <a:xfrm>
            <a:off x="6577012" y="4399657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65" name="Google Shape;165;p16"/>
          <p:cNvSpPr txBox="1"/>
          <p:nvPr/>
        </p:nvSpPr>
        <p:spPr>
          <a:xfrm>
            <a:off x="6643687" y="4399657"/>
            <a:ext cx="47386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Monitoraggio produttività individuale staff.</a:t>
            </a:r>
            <a:endParaRPr/>
          </a:p>
        </p:txBody>
      </p:sp>
      <p:sp>
        <p:nvSpPr>
          <p:cNvPr id="166" name="Google Shape;166;p16"/>
          <p:cNvSpPr txBox="1"/>
          <p:nvPr/>
        </p:nvSpPr>
        <p:spPr>
          <a:xfrm>
            <a:off x="6577012" y="4761607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67" name="Google Shape;167;p16"/>
          <p:cNvSpPr txBox="1"/>
          <p:nvPr/>
        </p:nvSpPr>
        <p:spPr>
          <a:xfrm>
            <a:off x="6643687" y="4761607"/>
            <a:ext cx="47386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Gestione catalogo e prezzi dei servizi offerti.</a:t>
            </a:r>
            <a:endParaRPr/>
          </a:p>
        </p:txBody>
      </p:sp>
      <p:sp>
        <p:nvSpPr>
          <p:cNvPr id="168" name="Google Shape;168;p16"/>
          <p:cNvSpPr txBox="1"/>
          <p:nvPr/>
        </p:nvSpPr>
        <p:spPr>
          <a:xfrm>
            <a:off x="571500" y="950862"/>
            <a:ext cx="116014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Requisiti Funzionali</a:t>
            </a:r>
            <a:endParaRPr/>
          </a:p>
        </p:txBody>
      </p:sp>
      <p:sp>
        <p:nvSpPr>
          <p:cNvPr id="169" name="Google Shape;169;p16"/>
          <p:cNvSpPr/>
          <p:nvPr/>
        </p:nvSpPr>
        <p:spPr>
          <a:xfrm>
            <a:off x="571500" y="1617612"/>
            <a:ext cx="11049000" cy="381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3068240"/>
            <a:ext cx="5286375" cy="2186582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/>
          <p:cNvSpPr txBox="1"/>
          <p:nvPr/>
        </p:nvSpPr>
        <p:spPr>
          <a:xfrm>
            <a:off x="571500" y="2577107"/>
            <a:ext cx="5286375" cy="100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Il sistema adotta il pattern architetturale </a:t>
            </a:r>
            <a:r>
              <a:rPr lang="en-US" sz="1650" b="1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Model-View-Controller</a:t>
            </a:r>
            <a:r>
              <a:rPr lang="en-US" sz="16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 per garantire una netta separazione delle responsabilità:</a:t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6524625" y="2877740"/>
            <a:ext cx="476250" cy="1190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0" i="1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"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6715125" y="3658790"/>
            <a:ext cx="4524375" cy="100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1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Obiettivo: Ottenere un </a:t>
            </a:r>
            <a:r>
              <a:rPr lang="en-US" sz="1650" b="1" i="1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Basso Accoppiamento (Low Coupling)</a:t>
            </a:r>
            <a:r>
              <a:rPr lang="en-US" sz="1650" b="0" i="1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 e un'alta manutenibilità del codice sorgente.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571500" y="3792140"/>
            <a:ext cx="528637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622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Model:</a:t>
            </a:r>
            <a:r>
              <a:rPr lang="en-US" sz="16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 Gestisce la logica di business e lo stato dei dati.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571500" y="4462462"/>
            <a:ext cx="528637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333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View:</a:t>
            </a:r>
            <a:r>
              <a:rPr lang="en-US" sz="16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 Interfaccia grafica (Swing) indipendente dalla logica.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571500" y="5132784"/>
            <a:ext cx="528637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195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Controller:</a:t>
            </a:r>
            <a:r>
              <a:rPr lang="en-US" sz="16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 Coordina l'interazione tra l'utente e il sistema.</a:t>
            </a:r>
            <a:endParaRPr/>
          </a:p>
        </p:txBody>
      </p:sp>
      <p:pic>
        <p:nvPicPr>
          <p:cNvPr id="100" name="Google Shape;100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844528"/>
            <a:ext cx="1809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4514850"/>
            <a:ext cx="23812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0" y="5185171"/>
            <a:ext cx="266700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4"/>
          <p:cNvSpPr txBox="1"/>
          <p:nvPr/>
        </p:nvSpPr>
        <p:spPr>
          <a:xfrm>
            <a:off x="571500" y="950862"/>
            <a:ext cx="116014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Architettura MVC</a:t>
            </a:r>
            <a:endParaRPr/>
          </a:p>
        </p:txBody>
      </p:sp>
      <p:sp>
        <p:nvSpPr>
          <p:cNvPr id="104" name="Google Shape;104;p14"/>
          <p:cNvSpPr/>
          <p:nvPr/>
        </p:nvSpPr>
        <p:spPr>
          <a:xfrm>
            <a:off x="571500" y="1617612"/>
            <a:ext cx="11049000" cy="381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119610"/>
            <a:ext cx="5381625" cy="3253382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38875" y="2119610"/>
            <a:ext cx="5381625" cy="3253382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5"/>
          <p:cNvSpPr txBox="1"/>
          <p:nvPr/>
        </p:nvSpPr>
        <p:spPr>
          <a:xfrm>
            <a:off x="762000" y="5658742"/>
            <a:ext cx="108585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1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"Isola lo strato di dominio dai dettagli tecnologici della base di dati relazionale."</a:t>
            </a:r>
            <a:endParaRPr/>
          </a:p>
        </p:txBody>
      </p:sp>
      <p:sp>
        <p:nvSpPr>
          <p:cNvPr id="113" name="Google Shape;113;p15"/>
          <p:cNvSpPr/>
          <p:nvPr/>
        </p:nvSpPr>
        <p:spPr>
          <a:xfrm>
            <a:off x="571500" y="5658742"/>
            <a:ext cx="47625" cy="33516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4" name="Google Shape;114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52500" y="2405360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5"/>
          <p:cNvSpPr txBox="1"/>
          <p:nvPr/>
        </p:nvSpPr>
        <p:spPr>
          <a:xfrm>
            <a:off x="952500" y="3281660"/>
            <a:ext cx="4950618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Problema</a:t>
            </a:r>
            <a:endParaRPr/>
          </a:p>
        </p:txBody>
      </p:sp>
      <p:sp>
        <p:nvSpPr>
          <p:cNvPr id="116" name="Google Shape;116;p15"/>
          <p:cNvSpPr txBox="1"/>
          <p:nvPr/>
        </p:nvSpPr>
        <p:spPr>
          <a:xfrm>
            <a:off x="952500" y="3872210"/>
            <a:ext cx="4714875" cy="100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Evitare che query SQL e meccanismi di persistenza inquinino le classi del Dominio (es. Prenotazione).</a:t>
            </a:r>
            <a:endParaRPr/>
          </a:p>
        </p:txBody>
      </p:sp>
      <p:pic>
        <p:nvPicPr>
          <p:cNvPr id="117" name="Google Shape;117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619875" y="2405360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5"/>
          <p:cNvSpPr txBox="1"/>
          <p:nvPr/>
        </p:nvSpPr>
        <p:spPr>
          <a:xfrm>
            <a:off x="6619875" y="3281660"/>
            <a:ext cx="4950618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Soluzione</a:t>
            </a:r>
            <a:endParaRPr/>
          </a:p>
        </p:txBody>
      </p:sp>
      <p:sp>
        <p:nvSpPr>
          <p:cNvPr id="119" name="Google Shape;119;p15"/>
          <p:cNvSpPr txBox="1"/>
          <p:nvPr/>
        </p:nvSpPr>
        <p:spPr>
          <a:xfrm>
            <a:off x="6619875" y="3872210"/>
            <a:ext cx="4714875" cy="100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Assegnare la responsabilità della persistenza a una </a:t>
            </a:r>
            <a:r>
              <a:rPr lang="en-US" sz="1650" b="1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Pure Fabrication</a:t>
            </a:r>
            <a:r>
              <a:rPr lang="en-US" sz="16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 chiamata DAO che astrae l'accesso al DB.</a:t>
            </a:r>
            <a:endParaRPr/>
          </a:p>
        </p:txBody>
      </p:sp>
      <p:pic>
        <p:nvPicPr>
          <p:cNvPr id="120" name="Google Shape;120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123950" y="2576810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805612" y="2576810"/>
            <a:ext cx="20002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5"/>
          <p:cNvSpPr txBox="1"/>
          <p:nvPr/>
        </p:nvSpPr>
        <p:spPr>
          <a:xfrm>
            <a:off x="571500" y="950862"/>
            <a:ext cx="116014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Pattern DAO (Data Access Object)</a:t>
            </a:r>
            <a:endParaRPr/>
          </a:p>
        </p:txBody>
      </p:sp>
      <p:sp>
        <p:nvSpPr>
          <p:cNvPr id="123" name="Google Shape;123;p15"/>
          <p:cNvSpPr/>
          <p:nvPr/>
        </p:nvSpPr>
        <p:spPr>
          <a:xfrm>
            <a:off x="571500" y="1617612"/>
            <a:ext cx="11049000" cy="381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Google Shape;128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3266182"/>
            <a:ext cx="5286375" cy="17907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16"/>
          <p:cNvSpPr txBox="1"/>
          <p:nvPr/>
        </p:nvSpPr>
        <p:spPr>
          <a:xfrm>
            <a:off x="571500" y="2832199"/>
            <a:ext cx="5550693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Gestione dell'Unicità</a:t>
            </a:r>
            <a:endParaRPr/>
          </a:p>
        </p:txBody>
      </p:sp>
      <p:sp>
        <p:nvSpPr>
          <p:cNvPr id="131" name="Google Shape;131;p16"/>
          <p:cNvSpPr txBox="1"/>
          <p:nvPr/>
        </p:nvSpPr>
        <p:spPr>
          <a:xfrm>
            <a:off x="571500" y="3422749"/>
            <a:ext cx="528637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Utilizzato per classi che devono avere una ed una sola istanza accessibile globalmente, come:</a:t>
            </a:r>
            <a:endParaRPr/>
          </a:p>
        </p:txBody>
      </p:sp>
      <p:sp>
        <p:nvSpPr>
          <p:cNvPr id="132" name="Google Shape;132;p16"/>
          <p:cNvSpPr txBox="1"/>
          <p:nvPr/>
        </p:nvSpPr>
        <p:spPr>
          <a:xfrm>
            <a:off x="876300" y="4303573"/>
            <a:ext cx="76200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33" name="Google Shape;133;p16"/>
          <p:cNvSpPr txBox="1"/>
          <p:nvPr/>
        </p:nvSpPr>
        <p:spPr>
          <a:xfrm>
            <a:off x="952500" y="4302621"/>
            <a:ext cx="490537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BarbershopFacade:</a:t>
            </a:r>
            <a:r>
              <a:rPr lang="en-US" sz="16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 Punto di accesso unico alla logica.</a:t>
            </a:r>
            <a:endParaRPr/>
          </a:p>
        </p:txBody>
      </p:sp>
      <p:sp>
        <p:nvSpPr>
          <p:cNvPr id="134" name="Google Shape;134;p16"/>
          <p:cNvSpPr txBox="1"/>
          <p:nvPr/>
        </p:nvSpPr>
        <p:spPr>
          <a:xfrm>
            <a:off x="876300" y="4973895"/>
            <a:ext cx="76200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35" name="Google Shape;135;p16"/>
          <p:cNvSpPr txBox="1"/>
          <p:nvPr/>
        </p:nvSpPr>
        <p:spPr>
          <a:xfrm>
            <a:off x="952500" y="4972942"/>
            <a:ext cx="490537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DBConnection:</a:t>
            </a:r>
            <a:r>
              <a:rPr lang="en-US" sz="16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 Gestore centralizzato delle connessioni JDBC.</a:t>
            </a:r>
            <a:endParaRPr/>
          </a:p>
        </p:txBody>
      </p:sp>
      <p:sp>
        <p:nvSpPr>
          <p:cNvPr id="136" name="Google Shape;136;p16"/>
          <p:cNvSpPr txBox="1"/>
          <p:nvPr/>
        </p:nvSpPr>
        <p:spPr>
          <a:xfrm>
            <a:off x="571500" y="950862"/>
            <a:ext cx="116014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Pattern Singleton</a:t>
            </a:r>
            <a:endParaRPr/>
          </a:p>
        </p:txBody>
      </p:sp>
      <p:sp>
        <p:nvSpPr>
          <p:cNvPr id="137" name="Google Shape;137;p16"/>
          <p:cNvSpPr/>
          <p:nvPr/>
        </p:nvSpPr>
        <p:spPr>
          <a:xfrm>
            <a:off x="571500" y="1617612"/>
            <a:ext cx="11049000" cy="381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071985"/>
            <a:ext cx="5381625" cy="325338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38875" y="2071985"/>
            <a:ext cx="5381625" cy="3253382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17"/>
          <p:cNvSpPr txBox="1"/>
          <p:nvPr/>
        </p:nvSpPr>
        <p:spPr>
          <a:xfrm>
            <a:off x="571500" y="5706367"/>
            <a:ext cx="110490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Controller UI → BarbershopFacade → [PrenotazioneDAO, UtenteDAO, ProdottoDAO]</a:t>
            </a:r>
            <a:endParaRPr/>
          </a:p>
        </p:txBody>
      </p:sp>
      <p:pic>
        <p:nvPicPr>
          <p:cNvPr id="146" name="Google Shape;146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52500" y="2357735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7"/>
          <p:cNvSpPr txBox="1"/>
          <p:nvPr/>
        </p:nvSpPr>
        <p:spPr>
          <a:xfrm>
            <a:off x="952500" y="3234035"/>
            <a:ext cx="4950618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Punto di Contatto Singolo</a:t>
            </a:r>
            <a:endParaRPr/>
          </a:p>
        </p:txBody>
      </p:sp>
      <p:sp>
        <p:nvSpPr>
          <p:cNvPr id="148" name="Google Shape;148;p17"/>
          <p:cNvSpPr txBox="1"/>
          <p:nvPr/>
        </p:nvSpPr>
        <p:spPr>
          <a:xfrm>
            <a:off x="952500" y="3824585"/>
            <a:ext cx="4714875" cy="100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Definisce un'interfaccia di alto livello che rende il sottosistema più facile da usare per i Controller.</a:t>
            </a:r>
            <a:endParaRPr/>
          </a:p>
        </p:txBody>
      </p:sp>
      <p:pic>
        <p:nvPicPr>
          <p:cNvPr id="149" name="Google Shape;149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619875" y="2357735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7"/>
          <p:cNvSpPr txBox="1"/>
          <p:nvPr/>
        </p:nvSpPr>
        <p:spPr>
          <a:xfrm>
            <a:off x="6619875" y="3234035"/>
            <a:ext cx="4950618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Riduzione Accoppiamento</a:t>
            </a:r>
            <a:endParaRPr/>
          </a:p>
        </p:txBody>
      </p:sp>
      <p:sp>
        <p:nvSpPr>
          <p:cNvPr id="151" name="Google Shape;151;p17"/>
          <p:cNvSpPr txBox="1"/>
          <p:nvPr/>
        </p:nvSpPr>
        <p:spPr>
          <a:xfrm>
            <a:off x="6619875" y="3824585"/>
            <a:ext cx="4714875" cy="100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I Controller della UI non interagiscono con i singoli DAO, ma interrogano esclusivamente la Facade.</a:t>
            </a:r>
            <a:endParaRPr/>
          </a:p>
        </p:txBody>
      </p:sp>
      <p:pic>
        <p:nvPicPr>
          <p:cNvPr id="152" name="Google Shape;152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109662" y="2529185"/>
            <a:ext cx="25717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805612" y="2529185"/>
            <a:ext cx="20002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17"/>
          <p:cNvSpPr txBox="1"/>
          <p:nvPr/>
        </p:nvSpPr>
        <p:spPr>
          <a:xfrm>
            <a:off x="571500" y="950862"/>
            <a:ext cx="116014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Pattern Facade</a:t>
            </a:r>
            <a:endParaRPr/>
          </a:p>
        </p:txBody>
      </p:sp>
      <p:sp>
        <p:nvSpPr>
          <p:cNvPr id="155" name="Google Shape;155;p17"/>
          <p:cNvSpPr/>
          <p:nvPr/>
        </p:nvSpPr>
        <p:spPr>
          <a:xfrm>
            <a:off x="571500" y="1617612"/>
            <a:ext cx="11049000" cy="381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068240"/>
            <a:ext cx="5286375" cy="2186582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18"/>
          <p:cNvSpPr txBox="1"/>
          <p:nvPr/>
        </p:nvSpPr>
        <p:spPr>
          <a:xfrm>
            <a:off x="762000" y="2877740"/>
            <a:ext cx="476250" cy="1190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0" i="1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"</a:t>
            </a:r>
            <a:endParaRPr/>
          </a:p>
        </p:txBody>
      </p:sp>
      <p:sp>
        <p:nvSpPr>
          <p:cNvPr id="163" name="Google Shape;163;p18"/>
          <p:cNvSpPr txBox="1"/>
          <p:nvPr/>
        </p:nvSpPr>
        <p:spPr>
          <a:xfrm>
            <a:off x="952500" y="3658790"/>
            <a:ext cx="4524375" cy="100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1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Chi deve essere responsabile della creazione di oggetti quando la logica è complessa o variabile?</a:t>
            </a:r>
            <a:endParaRPr/>
          </a:p>
        </p:txBody>
      </p:sp>
      <p:sp>
        <p:nvSpPr>
          <p:cNvPr id="164" name="Google Shape;164;p18"/>
          <p:cNvSpPr txBox="1"/>
          <p:nvPr/>
        </p:nvSpPr>
        <p:spPr>
          <a:xfrm>
            <a:off x="6334125" y="2803624"/>
            <a:ext cx="5550693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Pure Fabrication</a:t>
            </a:r>
            <a:endParaRPr/>
          </a:p>
        </p:txBody>
      </p:sp>
      <p:sp>
        <p:nvSpPr>
          <p:cNvPr id="165" name="Google Shape;165;p18"/>
          <p:cNvSpPr txBox="1"/>
          <p:nvPr/>
        </p:nvSpPr>
        <p:spPr>
          <a:xfrm>
            <a:off x="6334125" y="3394174"/>
            <a:ext cx="5286375" cy="100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Abbiamo delegato la creazione di oggetti complessi a classi Factory dedicate, nascondendo i dettagli del costruttore e migliorando la </a:t>
            </a:r>
            <a:r>
              <a:rPr lang="en-US" sz="1650" b="1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Coesione</a:t>
            </a:r>
            <a:r>
              <a:rPr lang="en-US" sz="16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  <a:endParaRPr/>
          </a:p>
        </p:txBody>
      </p:sp>
      <p:sp>
        <p:nvSpPr>
          <p:cNvPr id="166" name="Google Shape;166;p18"/>
          <p:cNvSpPr txBox="1"/>
          <p:nvPr/>
        </p:nvSpPr>
        <p:spPr>
          <a:xfrm>
            <a:off x="6334125" y="4609207"/>
            <a:ext cx="5286375" cy="100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Utilizzata per istanziare dinamicamente gli oggetti del modello (User, Servizi) partendo dai record del database.</a:t>
            </a:r>
            <a:endParaRPr/>
          </a:p>
        </p:txBody>
      </p:sp>
      <p:sp>
        <p:nvSpPr>
          <p:cNvPr id="167" name="Google Shape;167;p18"/>
          <p:cNvSpPr txBox="1"/>
          <p:nvPr/>
        </p:nvSpPr>
        <p:spPr>
          <a:xfrm>
            <a:off x="571500" y="950862"/>
            <a:ext cx="116014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Pattern Factory</a:t>
            </a:r>
            <a:endParaRPr/>
          </a:p>
        </p:txBody>
      </p:sp>
      <p:sp>
        <p:nvSpPr>
          <p:cNvPr id="168" name="Google Shape;168;p18"/>
          <p:cNvSpPr/>
          <p:nvPr/>
        </p:nvSpPr>
        <p:spPr>
          <a:xfrm>
            <a:off x="571500" y="1617612"/>
            <a:ext cx="11049000" cy="381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19"/>
          <p:cNvSpPr/>
          <p:nvPr/>
        </p:nvSpPr>
        <p:spPr>
          <a:xfrm>
            <a:off x="571500" y="2928044"/>
            <a:ext cx="11049000" cy="2466975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75" name="Google Shape;175;p19"/>
          <p:cNvGraphicFramePr/>
          <p:nvPr/>
        </p:nvGraphicFramePr>
        <p:xfrm>
          <a:off x="571500" y="2928044"/>
          <a:ext cx="11049000" cy="246700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214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34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3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Principio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Applicazione nel Progetto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0000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Polymorphism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Gestione dei ruoli (Cliente/Admin) senza l'uso di logica condizionale eccessiva nel DAO.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0000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Controller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Oggetti come LoginController ricevono i messaggi della UI e coordinano le operazioni.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0000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Information Expert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Le responsabilità di calcolo (es. totale prezzo) sono assegnate alla classe che possiede i dati.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3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0000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Indirection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L'uso dei DAO e della Facade funge da intermediario tra Dominio e Persistenza.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6" name="Google Shape;176;p19"/>
          <p:cNvSpPr/>
          <p:nvPr/>
        </p:nvSpPr>
        <p:spPr>
          <a:xfrm>
            <a:off x="571500" y="3894832"/>
            <a:ext cx="2214711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9"/>
          <p:cNvSpPr/>
          <p:nvPr/>
        </p:nvSpPr>
        <p:spPr>
          <a:xfrm>
            <a:off x="2786211" y="3894832"/>
            <a:ext cx="8834288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9"/>
          <p:cNvSpPr/>
          <p:nvPr/>
        </p:nvSpPr>
        <p:spPr>
          <a:xfrm>
            <a:off x="571500" y="4390132"/>
            <a:ext cx="2214711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9"/>
          <p:cNvSpPr/>
          <p:nvPr/>
        </p:nvSpPr>
        <p:spPr>
          <a:xfrm>
            <a:off x="2786211" y="4390132"/>
            <a:ext cx="8834288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9"/>
          <p:cNvSpPr/>
          <p:nvPr/>
        </p:nvSpPr>
        <p:spPr>
          <a:xfrm>
            <a:off x="571500" y="4885432"/>
            <a:ext cx="2214711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9"/>
          <p:cNvSpPr/>
          <p:nvPr/>
        </p:nvSpPr>
        <p:spPr>
          <a:xfrm>
            <a:off x="2786211" y="4885432"/>
            <a:ext cx="8834288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9"/>
          <p:cNvSpPr/>
          <p:nvPr/>
        </p:nvSpPr>
        <p:spPr>
          <a:xfrm>
            <a:off x="571500" y="5380732"/>
            <a:ext cx="2214711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9"/>
          <p:cNvSpPr/>
          <p:nvPr/>
        </p:nvSpPr>
        <p:spPr>
          <a:xfrm>
            <a:off x="2786211" y="5380732"/>
            <a:ext cx="8834288" cy="9525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9"/>
          <p:cNvSpPr txBox="1"/>
          <p:nvPr/>
        </p:nvSpPr>
        <p:spPr>
          <a:xfrm>
            <a:off x="571500" y="950862"/>
            <a:ext cx="116014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Principi GRASP Applicati</a:t>
            </a:r>
            <a:endParaRPr/>
          </a:p>
        </p:txBody>
      </p:sp>
      <p:sp>
        <p:nvSpPr>
          <p:cNvPr id="185" name="Google Shape;185;p19"/>
          <p:cNvSpPr/>
          <p:nvPr/>
        </p:nvSpPr>
        <p:spPr>
          <a:xfrm>
            <a:off x="571500" y="1617612"/>
            <a:ext cx="11049000" cy="381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" name="Google Shape;190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35974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967037"/>
            <a:ext cx="2381250" cy="2381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460700" y="2967037"/>
            <a:ext cx="2381250" cy="2381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349900" y="2967037"/>
            <a:ext cx="2381250" cy="2381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2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239101" y="2967037"/>
            <a:ext cx="2381250" cy="238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0"/>
          <p:cNvSpPr/>
          <p:nvPr/>
        </p:nvSpPr>
        <p:spPr>
          <a:xfrm>
            <a:off x="404615" y="2358435"/>
            <a:ext cx="11049000" cy="3810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20"/>
          <p:cNvSpPr txBox="1"/>
          <p:nvPr/>
        </p:nvSpPr>
        <p:spPr>
          <a:xfrm>
            <a:off x="790575" y="4067175"/>
            <a:ext cx="19431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Analisi</a:t>
            </a:r>
            <a:r>
              <a:rPr lang="en-US" sz="1200" b="0" i="0" u="none" strike="noStrike" cap="none" dirty="0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200" b="0" i="0" u="none" strike="noStrike" cap="none" dirty="0" err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Requisiti</a:t>
            </a:r>
            <a:r>
              <a:rPr lang="en-US" sz="1200" b="0" i="0" u="none" strike="noStrike" cap="none" dirty="0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 e Casi </a:t>
            </a:r>
            <a:r>
              <a:rPr lang="en-US" sz="1200" b="0" i="0" u="none" strike="noStrike" cap="none" dirty="0" err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d'Uso</a:t>
            </a:r>
            <a:endParaRPr dirty="0"/>
          </a:p>
        </p:txBody>
      </p:sp>
      <p:sp>
        <p:nvSpPr>
          <p:cNvPr id="197" name="Google Shape;197;p20"/>
          <p:cNvSpPr txBox="1"/>
          <p:nvPr/>
        </p:nvSpPr>
        <p:spPr>
          <a:xfrm>
            <a:off x="3679775" y="4067175"/>
            <a:ext cx="19431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Progettazione ER e Diagrammi Classi</a:t>
            </a:r>
            <a:endParaRPr/>
          </a:p>
        </p:txBody>
      </p:sp>
      <p:sp>
        <p:nvSpPr>
          <p:cNvPr id="198" name="Google Shape;198;p20"/>
          <p:cNvSpPr txBox="1"/>
          <p:nvPr/>
        </p:nvSpPr>
        <p:spPr>
          <a:xfrm>
            <a:off x="6568975" y="4067175"/>
            <a:ext cx="19431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Implementazione Java &amp; Swing GUI</a:t>
            </a:r>
            <a:endParaRPr/>
          </a:p>
        </p:txBody>
      </p:sp>
      <p:sp>
        <p:nvSpPr>
          <p:cNvPr id="199" name="Google Shape;199;p20"/>
          <p:cNvSpPr txBox="1"/>
          <p:nvPr/>
        </p:nvSpPr>
        <p:spPr>
          <a:xfrm>
            <a:off x="9458176" y="4067175"/>
            <a:ext cx="19431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Testing e Integrazione Database</a:t>
            </a:r>
            <a:endParaRPr/>
          </a:p>
        </p:txBody>
      </p:sp>
      <p:sp>
        <p:nvSpPr>
          <p:cNvPr id="200" name="Google Shape;200;p20"/>
          <p:cNvSpPr txBox="1"/>
          <p:nvPr/>
        </p:nvSpPr>
        <p:spPr>
          <a:xfrm>
            <a:off x="571500" y="571500"/>
            <a:ext cx="3270408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Ciclo di Sviluppo</a:t>
            </a:r>
            <a:endParaRPr/>
          </a:p>
        </p:txBody>
      </p:sp>
      <p:sp>
        <p:nvSpPr>
          <p:cNvPr id="201" name="Google Shape;201;p20"/>
          <p:cNvSpPr/>
          <p:nvPr/>
        </p:nvSpPr>
        <p:spPr>
          <a:xfrm>
            <a:off x="571500" y="1143000"/>
            <a:ext cx="3114675" cy="28575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0"/>
          <p:cNvSpPr txBox="1"/>
          <p:nvPr/>
        </p:nvSpPr>
        <p:spPr>
          <a:xfrm>
            <a:off x="1492091" y="3848100"/>
            <a:ext cx="540067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Fase 1</a:t>
            </a:r>
            <a:endParaRPr/>
          </a:p>
        </p:txBody>
      </p:sp>
      <p:sp>
        <p:nvSpPr>
          <p:cNvPr id="203" name="Google Shape;203;p20"/>
          <p:cNvSpPr txBox="1"/>
          <p:nvPr/>
        </p:nvSpPr>
        <p:spPr>
          <a:xfrm>
            <a:off x="4371290" y="3848100"/>
            <a:ext cx="560070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Fase 2</a:t>
            </a:r>
            <a:endParaRPr/>
          </a:p>
        </p:txBody>
      </p:sp>
      <p:sp>
        <p:nvSpPr>
          <p:cNvPr id="204" name="Google Shape;204;p20"/>
          <p:cNvSpPr txBox="1"/>
          <p:nvPr/>
        </p:nvSpPr>
        <p:spPr>
          <a:xfrm>
            <a:off x="7260490" y="3848100"/>
            <a:ext cx="560070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Fase 3</a:t>
            </a:r>
            <a:endParaRPr/>
          </a:p>
        </p:txBody>
      </p:sp>
      <p:sp>
        <p:nvSpPr>
          <p:cNvPr id="205" name="Google Shape;205;p20"/>
          <p:cNvSpPr txBox="1"/>
          <p:nvPr/>
        </p:nvSpPr>
        <p:spPr>
          <a:xfrm>
            <a:off x="10144690" y="3848100"/>
            <a:ext cx="570071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Fase 4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237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38" name="Google Shape;238;p23"/>
          <p:cNvGraphicFramePr/>
          <p:nvPr/>
        </p:nvGraphicFramePr>
        <p:xfrm>
          <a:off x="571500" y="2357437"/>
          <a:ext cx="11049000" cy="3124250"/>
        </p:xfrm>
        <a:graphic>
          <a:graphicData uri="http://schemas.openxmlformats.org/drawingml/2006/table">
            <a:tbl>
              <a:tblPr firstRow="1" bandRow="1">
                <a:noFill/>
                <a:tableStyleId>{DC9EBA12-976F-4722-A816-1FAFEFF6BF29}</a:tableStyleId>
              </a:tblPr>
              <a:tblGrid>
                <a:gridCol w="2185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4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2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4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FFFF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Componente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FFFF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Tecnologia / Pattern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FFFF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Utilizzo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4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005088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Linguaggio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005088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Java (JDK 17+)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005088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Core business logic e multithreading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4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005088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Interfaccia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005088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Swing / AWT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005088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GUI Desktop cross-platform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4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005088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Persistenza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005088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SQLite / JDBC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005088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Database relazionale locale integrato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4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005088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Pattern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005088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MVC, DAO, Facade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005088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Disaccoppiamento e manutenibilità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39" name="Google Shape;239;p23"/>
          <p:cNvSpPr/>
          <p:nvPr/>
        </p:nvSpPr>
        <p:spPr>
          <a:xfrm>
            <a:off x="571500" y="3552825"/>
            <a:ext cx="2185392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3"/>
          <p:cNvSpPr/>
          <p:nvPr/>
        </p:nvSpPr>
        <p:spPr>
          <a:xfrm>
            <a:off x="2756892" y="3552825"/>
            <a:ext cx="3141612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3"/>
          <p:cNvSpPr/>
          <p:nvPr/>
        </p:nvSpPr>
        <p:spPr>
          <a:xfrm>
            <a:off x="5898505" y="3552825"/>
            <a:ext cx="5721994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23"/>
          <p:cNvSpPr/>
          <p:nvPr/>
        </p:nvSpPr>
        <p:spPr>
          <a:xfrm>
            <a:off x="571500" y="4191000"/>
            <a:ext cx="2185392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23"/>
          <p:cNvSpPr/>
          <p:nvPr/>
        </p:nvSpPr>
        <p:spPr>
          <a:xfrm>
            <a:off x="2756892" y="4191000"/>
            <a:ext cx="3141612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3"/>
          <p:cNvSpPr/>
          <p:nvPr/>
        </p:nvSpPr>
        <p:spPr>
          <a:xfrm>
            <a:off x="5898505" y="4191000"/>
            <a:ext cx="5721994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23"/>
          <p:cNvSpPr/>
          <p:nvPr/>
        </p:nvSpPr>
        <p:spPr>
          <a:xfrm>
            <a:off x="571500" y="4829175"/>
            <a:ext cx="2185392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3"/>
          <p:cNvSpPr/>
          <p:nvPr/>
        </p:nvSpPr>
        <p:spPr>
          <a:xfrm>
            <a:off x="2756892" y="4829175"/>
            <a:ext cx="3141612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23"/>
          <p:cNvSpPr/>
          <p:nvPr/>
        </p:nvSpPr>
        <p:spPr>
          <a:xfrm>
            <a:off x="5898505" y="4829175"/>
            <a:ext cx="5721994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3"/>
          <p:cNvSpPr/>
          <p:nvPr/>
        </p:nvSpPr>
        <p:spPr>
          <a:xfrm>
            <a:off x="571500" y="5467350"/>
            <a:ext cx="2185392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3"/>
          <p:cNvSpPr/>
          <p:nvPr/>
        </p:nvSpPr>
        <p:spPr>
          <a:xfrm>
            <a:off x="2756892" y="5467350"/>
            <a:ext cx="3141612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3"/>
          <p:cNvSpPr/>
          <p:nvPr/>
        </p:nvSpPr>
        <p:spPr>
          <a:xfrm>
            <a:off x="5898505" y="5467350"/>
            <a:ext cx="5721994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3"/>
          <p:cNvSpPr txBox="1"/>
          <p:nvPr/>
        </p:nvSpPr>
        <p:spPr>
          <a:xfrm>
            <a:off x="571500" y="571500"/>
            <a:ext cx="3580447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Stack Tecnologico</a:t>
            </a:r>
            <a:endParaRPr/>
          </a:p>
        </p:txBody>
      </p:sp>
      <p:sp>
        <p:nvSpPr>
          <p:cNvPr id="252" name="Google Shape;252;p23"/>
          <p:cNvSpPr/>
          <p:nvPr/>
        </p:nvSpPr>
        <p:spPr>
          <a:xfrm>
            <a:off x="571500" y="1143000"/>
            <a:ext cx="3409950" cy="28575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088"/>
        </a:solidFill>
        <a:effectLst/>
      </p:bgPr>
    </p:bg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7" name="Google Shape;257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138612"/>
            <a:ext cx="11049000" cy="657225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4"/>
          <p:cNvSpPr txBox="1"/>
          <p:nvPr/>
        </p:nvSpPr>
        <p:spPr>
          <a:xfrm>
            <a:off x="571500" y="3214687"/>
            <a:ext cx="11049000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Grazie per l'attenzione.</a:t>
            </a:r>
            <a:endParaRPr/>
          </a:p>
        </p:txBody>
      </p:sp>
      <p:sp>
        <p:nvSpPr>
          <p:cNvPr id="260" name="Google Shape;260;p24"/>
          <p:cNvSpPr txBox="1"/>
          <p:nvPr/>
        </p:nvSpPr>
        <p:spPr>
          <a:xfrm>
            <a:off x="295275" y="2062162"/>
            <a:ext cx="11601450" cy="962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11CAA0"/>
                </a:solidFill>
                <a:latin typeface="Merriweather"/>
                <a:ea typeface="Merriweather"/>
                <a:cs typeface="Merriweather"/>
                <a:sym typeface="Merriweather"/>
              </a:rPr>
              <a:t>Domande?</a:t>
            </a:r>
            <a:endParaRPr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7B9CC22-E1D3-7797-F600-0B30858A2592}"/>
              </a:ext>
            </a:extLst>
          </p:cNvPr>
          <p:cNvSpPr txBox="1"/>
          <p:nvPr/>
        </p:nvSpPr>
        <p:spPr>
          <a:xfrm>
            <a:off x="10422193" y="6168420"/>
            <a:ext cx="16112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Andrea Caminiti</a:t>
            </a:r>
          </a:p>
          <a:p>
            <a:r>
              <a:rPr lang="it-IT" dirty="0"/>
              <a:t>Fabio Fiducioso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0A586400-ADBF-6122-EA1D-782512E913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-1"/>
            <a:ext cx="1371719" cy="129551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4459</TotalTime>
  <Words>644</Words>
  <Application>Microsoft Office PowerPoint</Application>
  <PresentationFormat>Widescreen</PresentationFormat>
  <Paragraphs>115</Paragraphs>
  <Slides>14</Slides>
  <Notes>14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14</vt:i4>
      </vt:variant>
    </vt:vector>
  </HeadingPairs>
  <TitlesOfParts>
    <vt:vector size="19" baseType="lpstr">
      <vt:lpstr>Calibri</vt:lpstr>
      <vt:lpstr>DM Sans</vt:lpstr>
      <vt:lpstr>Arial</vt:lpstr>
      <vt:lpstr>Merriweather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Andrea Caminiti</cp:lastModifiedBy>
  <cp:revision>5</cp:revision>
  <dcterms:modified xsi:type="dcterms:W3CDTF">2026-06-01T15:24:01Z</dcterms:modified>
</cp:coreProperties>
</file>
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6" r:id="rId3"/>
    <p:sldId id="257" r:id="rId4"/>
    <p:sldId id="258" r:id="rId5"/>
    <p:sldId id="277" r:id="rId6"/>
    <p:sldId id="272" r:id="rId7"/>
    <p:sldId id="273" r:id="rId8"/>
    <p:sldId id="259" r:id="rId9"/>
    <p:sldId id="274" r:id="rId10"/>
    <p:sldId id="275" r:id="rId11"/>
    <p:sldId id="262" r:id="rId12"/>
    <p:sldId id="263" r:id="rId13"/>
    <p:sldId id="266" r:id="rId14"/>
    <p:sldId id="267" r:id="rId15"/>
  </p:sldIdLst>
  <p:sldSz cx="12192000" cy="6858000"/>
  <p:notesSz cx="6858000" cy="9144000"/>
  <p:embeddedFontLst>
    <p:embeddedFont>
      <p:font typeface="DM Sans" pitchFamily="2" charset="77"/>
      <p:regular r:id="rId17"/>
      <p:bold r:id="rId18"/>
      <p:italic r:id="rId19"/>
      <p:boldItalic r:id="rId20"/>
    </p:embeddedFont>
    <p:embeddedFont>
      <p:font typeface="Merriweather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9EBA12-976F-4722-A816-1FAFEFF6BF29}">
  <a:tblStyle styleId="{DC9EBA12-976F-4722-A816-1FAFEFF6BF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48"/>
    <p:restoredTop sz="94503"/>
  </p:normalViewPr>
  <p:slideViewPr>
    <p:cSldViewPr snapToGrid="0">
      <p:cViewPr>
        <p:scale>
          <a:sx n="87" d="100"/>
          <a:sy n="87" d="100"/>
        </p:scale>
        <p:origin x="432" y="3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3967162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Progetto di Ingegneria del Software - Università di Pavia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70058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Un</a:t>
            </a:r>
            <a:r>
              <a:rPr lang="en-US" sz="15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software </a:t>
            </a:r>
            <a:r>
              <a:rPr lang="en-US" sz="15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digitale integrato per la gestione di saloni professionali.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909762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BarberShop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Management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6278"/>
            <a:ext cx="5334000" cy="3110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5653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52500" y="2987278"/>
            <a:ext cx="48006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Digitalizzare l'eccellenza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52500" y="3644503"/>
            <a:ext cx="45720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Trasformare l'esperienza artigianale del barbiere in un flusso operativo ottimizzato, migliorando la gestione degli appuntamenti e la fidelizzazione del cliente (Retention).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266057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Obiettivo del Progetto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9444"/>
            <a:ext cx="53340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99444"/>
            <a:ext cx="53340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29470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94709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147369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"Interazione fluida tra l'utente finale e la logica di business del salone."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390650" y="2947094"/>
            <a:ext cx="23802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Gestione Identità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05650" y="2947094"/>
            <a:ext cx="31003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Gestione Prenotazioni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90650" y="3451919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1.1: Registrazione Utente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390650" y="3718619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1.2: Login (Autenticazione)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390650" y="3985319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1.3: Reimpostazione Password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05650" y="3451919"/>
            <a:ext cx="2952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2.1: Scelta Servizi e Orari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05650" y="3718619"/>
            <a:ext cx="2952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2.2: Selezione Barbiere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05650" y="3985319"/>
            <a:ext cx="2952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2.3: Conferma Appuntamento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34804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37471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40138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5650" y="34804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5650" y="374719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5650" y="4013894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Mappa dei Casi d'Uso (1-2)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75694"/>
            <a:ext cx="53340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175694"/>
            <a:ext cx="53340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342334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342334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390650" y="3423344"/>
            <a:ext cx="321040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Feedback e Valutazione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105650" y="3423344"/>
            <a:ext cx="27903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Amministrazione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390650" y="3928169"/>
            <a:ext cx="3057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3.1: Rilascio Recensione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390650" y="4194869"/>
            <a:ext cx="30575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3.2: Storico Trattamenti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105650" y="3928169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4.1: Gestione Magazzino / Scorte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105650" y="4194869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4.2: Configurazione Listino Prezzi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105650" y="4461569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4.3: Monitoraggio Performance Staff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3956744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4223444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5650" y="395674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5650" y="422344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5650" y="4490144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Mappa dei Casi d'Uso (3-4)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5182"/>
            <a:ext cx="5405437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885182"/>
            <a:ext cx="5405437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09625" y="3180457"/>
            <a:ext cx="517564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Lato Cliente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53187" y="3180457"/>
            <a:ext cx="517564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Lato Amministratore</a:t>
            </a:r>
            <a:endParaRPr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21855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933450" y="367575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00125" y="367575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Prenotazione servizi online 24/7.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33450" y="403770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00125" y="403770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Scelta dinamica del barbiere di fiducia.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33450" y="439965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00125" y="439965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Consultazione storico trattamenti effettuati.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33450" y="476160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00125" y="476160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Possibilità di valutare l'esperienza post-taglio.</a:t>
            </a:r>
            <a:endParaRPr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3187" y="321855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6577012" y="367575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643687" y="367575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Gestione centralizzata dell'inventario prodotti.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577012" y="403770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643687" y="403770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Aggiornamento orari e giorni di chiusura.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577012" y="439965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643687" y="439965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Monitoraggio produttività individuale staff.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577012" y="476160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643687" y="4761607"/>
            <a:ext cx="47386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Gestione catalogo e prezzi dei servizi offerti.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Requisiti Funzionali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68240"/>
            <a:ext cx="5286375" cy="218658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577107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Il sistema adotta il pattern architetturale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Model-View-Controller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 garantire una netta separazione delle responsabilità: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524625" y="2877740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1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15125" y="3658790"/>
            <a:ext cx="4524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Obiettivo: Ottenere un </a:t>
            </a:r>
            <a:r>
              <a:rPr lang="en-US" sz="1650" b="1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Basso Accoppiamento (Low Coupling)</a:t>
            </a:r>
            <a:r>
              <a:rPr lang="en-US" sz="165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 un'alta manutenibilità del codice sorgente.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79214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Gestisce la logica di business e lo stato dei dati.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462462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View: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Interfaccia grafica (Swing) indipendente dalla logica.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13278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Controller: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Coordina l'interazione tra l'utente e il sistema.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4452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148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185171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Architettura MVC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610"/>
            <a:ext cx="5381625" cy="3253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119610"/>
            <a:ext cx="5381625" cy="32533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658742"/>
            <a:ext cx="10858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"Isola lo strato di dominio dai dettagli tecnologici della base di dati relazionale."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658742"/>
            <a:ext cx="47625" cy="33516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4053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52500" y="3281660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872210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Evitare che query SQL e meccanismi di persistenza inquinino le classi del Dominio (es. Prenotazione).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9875" y="240536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619875" y="3281660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Soluzione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19875" y="3872210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Assegnare la responsabilità della persistenza a una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Pure Fabrication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chiamata DAO che astrae l'accesso al DB.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3950" y="25768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05612" y="257681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Pattern DAO (Data Access Object)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66182"/>
            <a:ext cx="528637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2832199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Gestione dell'Unicità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42274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Utilizzato per classi che devono avere una ed una sola istanza accessibile globalmente, come: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76300" y="430357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430262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BarbershopFacade: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Punto di accesso unico alla logica.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76300" y="497389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497294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DBConnection: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Gestore centralizzato delle connessioni JDBC.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Pattern Singleton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985"/>
            <a:ext cx="5381625" cy="3253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71985"/>
            <a:ext cx="5381625" cy="3253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0636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Controller UI → BarbershopFacade → [PrenotazioneDAO, UtenteDAO, ProdottoDAO]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35773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52500" y="3234035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Punto di Contatto Singolo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824585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Definisce un'interfaccia di alto livello che rende il sottosistema più facile da usare per i Controller.</a:t>
            </a:r>
            <a:endParaRPr/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235773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619875" y="3234035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Riduzione Accoppiamento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19875" y="3824585"/>
            <a:ext cx="4714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 Controller della UI non interagiscono con i singoli DAO, ma interrogano esclusivamente la Facade.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9662" y="252918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05612" y="25291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Pattern Facade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8240"/>
            <a:ext cx="5286375" cy="2186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2877740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1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3658790"/>
            <a:ext cx="4524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Chi deve essere responsabile della creazione di oggetti quando la logica è complessa o variabile?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34125" y="2803624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Pure Fabrication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34125" y="3394174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Abbiamo delegato la creazione di oggetti complessi a classi Factory dedicate, nascondendo i dettagli del costruttore e migliorando la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Coesione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34125" y="4609207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Utilizzata per istanziare dinamicamente gli oggetti del modello (User, Servizi) partendo dai record del database.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Pattern Factory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71500" y="2928044"/>
            <a:ext cx="11049000" cy="24669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19"/>
          <p:cNvGraphicFramePr/>
          <p:nvPr/>
        </p:nvGraphicFramePr>
        <p:xfrm>
          <a:off x="571500" y="2928044"/>
          <a:ext cx="11049000" cy="2467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1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Principio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Applicazione nel Progetto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Polymorphism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Gestione dei ruoli (Cliente/Admin) senza l'uso di logica condizionale eccessiva nel DAO.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Controller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Oggetti come LoginController ricevono i messaggi della UI e coordinano le operazioni.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Information Expert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 responsabilità di calcolo (es. totale prezzo) sono assegnate alla classe che possiede i dati.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Indirection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L'uso dei DAO e della Facade funge da intermediario tra Dominio e Persistenza.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6" name="Google Shape;176;p19"/>
          <p:cNvSpPr/>
          <p:nvPr/>
        </p:nvSpPr>
        <p:spPr>
          <a:xfrm>
            <a:off x="571500" y="3894832"/>
            <a:ext cx="22147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786211" y="3894832"/>
            <a:ext cx="88342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4390132"/>
            <a:ext cx="22147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786211" y="4390132"/>
            <a:ext cx="88342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4885432"/>
            <a:ext cx="22147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786211" y="4885432"/>
            <a:ext cx="88342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5380732"/>
            <a:ext cx="22147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786211" y="5380732"/>
            <a:ext cx="883428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950862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Principi GRASP Applicati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617612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597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7037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60700" y="2967037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9900" y="2967037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101" y="2967037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404615" y="2358435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90575" y="406717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Analisi</a:t>
            </a:r>
            <a:r>
              <a:rPr lang="en-US" sz="12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Requisiti</a:t>
            </a:r>
            <a:r>
              <a:rPr lang="en-US" sz="12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e Casi </a:t>
            </a:r>
            <a:r>
              <a:rPr lang="en-US" sz="120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d'Uso</a:t>
            </a:r>
            <a:endParaRPr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3679775" y="406717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Progettazione ER e Diagrammi Classi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568975" y="406717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Implementazione Java &amp; Swing GUI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458176" y="406717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Testing e Integrazione Database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571500"/>
            <a:ext cx="327040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Ciclo di Sviluppo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1143000"/>
            <a:ext cx="31146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492091" y="3848100"/>
            <a:ext cx="54006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1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371290" y="3848100"/>
            <a:ext cx="5600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2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260490" y="3848100"/>
            <a:ext cx="5600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3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144690" y="3848100"/>
            <a:ext cx="5700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Fase 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23"/>
          <p:cNvGraphicFramePr/>
          <p:nvPr/>
        </p:nvGraphicFramePr>
        <p:xfrm>
          <a:off x="571500" y="2357437"/>
          <a:ext cx="11049000" cy="3124250"/>
        </p:xfrm>
        <a:graphic>
          <a:graphicData uri="http://schemas.openxmlformats.org/drawingml/2006/table">
            <a:tbl>
              <a:tblPr firstRow="1" bandRow="1">
                <a:noFill/>
                <a:tableStyleId>{DC9EBA12-976F-4722-A816-1FAFEFF6BF29}</a:tableStyleId>
              </a:tblPr>
              <a:tblGrid>
                <a:gridCol w="218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Componente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Tecnologia / Pattern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Utilizzo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Linguaggio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Java (JDK 17+)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Core business logic e multithreading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Interfaccia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Swing / AWT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GUI Desktop cross-platform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Persistenza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SQLite / JDBC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Database relazionale locale integrato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Pattern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MVC, DAO, Facade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Disaccoppiamento e manutenibilità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Google Shape;239;p23"/>
          <p:cNvSpPr/>
          <p:nvPr/>
        </p:nvSpPr>
        <p:spPr>
          <a:xfrm>
            <a:off x="571500" y="3552825"/>
            <a:ext cx="218539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756892" y="3552825"/>
            <a:ext cx="31416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898505" y="3552825"/>
            <a:ext cx="572199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4191000"/>
            <a:ext cx="218539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756892" y="4191000"/>
            <a:ext cx="31416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898505" y="4191000"/>
            <a:ext cx="572199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829175"/>
            <a:ext cx="218539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756892" y="4829175"/>
            <a:ext cx="31416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898505" y="4829175"/>
            <a:ext cx="572199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1500" y="5467350"/>
            <a:ext cx="218539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756892" y="5467350"/>
            <a:ext cx="314161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898505" y="5467350"/>
            <a:ext cx="572199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571500"/>
            <a:ext cx="3580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Stack Tecnologico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71500" y="1143000"/>
            <a:ext cx="34099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38612"/>
            <a:ext cx="110490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71500" y="3214687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Grazie per l'attenzione.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295275" y="206216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Domande?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4456</TotalTime>
  <Words>640</Words>
  <Application>Microsoft Macintosh PowerPoint</Application>
  <PresentationFormat>Widescreen</PresentationFormat>
  <Paragraphs>113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DM Sans</vt:lpstr>
      <vt:lpstr>Arial</vt:lpstr>
      <vt:lpstr>Calibri</vt:lpstr>
      <vt:lpstr>Merriweather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FIDUCIOSO GIULIO (PCL)</cp:lastModifiedBy>
  <cp:revision>4</cp:revision>
  <dcterms:modified xsi:type="dcterms:W3CDTF">2026-05-09T16:15:04Z</dcterms:modified>
</cp:coreProperties>
</file>